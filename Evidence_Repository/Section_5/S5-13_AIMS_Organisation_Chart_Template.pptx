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S5-13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ORGANISATION CHART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Management System — Roles, Reporting Lines and Accountability Structure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8229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Item: </a:t>
            </a:r>
            <a:pPr indent="0" marL="0">
              <a:buNone/>
            </a:pPr>
            <a:r>
              <a:rPr lang="en-US" sz="1000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S5-13  |  </a:t>
            </a:r>
            <a:pPr indent="0" marL="0">
              <a:buNone/>
            </a:pPr>
            <a:r>
              <a:rPr lang="en-US" sz="1000" b="1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Standard: </a:t>
            </a:r>
            <a:pPr indent="0" marL="0">
              <a:buNone/>
            </a:pPr>
            <a:r>
              <a:rPr lang="en-US" sz="1000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42001 cl.5.3  |  EU AI Act Art.16  |  NIST AI RMF GOVERN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Organisation: </a:t>
            </a:r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Urielle AI (urielle-ai.com) — Singapore  |  </a:t>
            </a:r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System: </a:t>
            </a:r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NCAOS-Urielle EGS  |  </a:t>
            </a:r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Version: </a:t>
            </a:r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 |  June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= NCAOS-Urielle reference  |  [BRACKETS] = Replace per engagement  |  Duplicate slides 2–4 per engagement — do not overwrite this reference deck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Urielle AI  |  S5-13  |  Confidential  |  v1.0  |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ORGANISATION CHART — NCAOS-Urielle Reference Engagement (ERT-2026-001)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41148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42001 cl.5.3  |  Version 1.0  |  June 2026  |  Urielle AI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926080" y="77724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1F3864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71800" y="8229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Hartono
</a:t>
            </a:r>
            <a:pPr algn="ctr" indent="0" marL="0">
              <a:buNone/>
            </a:pPr>
            <a:r>
              <a:rPr lang="en-US" sz="900" i="1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Founder, Urielle AI / FHCA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Owner / Policy Owner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28436E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8229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Toru
</a:t>
            </a:r>
            <a:pPr algn="ctr" indent="0" marL="0">
              <a:buNone/>
            </a:pPr>
            <a:r>
              <a:rPr lang="en-US" sz="900" i="1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NCAOS Japan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Bilateral Partner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124712"/>
            <a:ext cx="4572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286000" y="11887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NDA scope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0" cy="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7830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E75B6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Auditor (Engagement Lead)
</a:t>
            </a:r>
            <a:pPr algn="ctr" indent="0" marL="0">
              <a:buNone/>
            </a:pPr>
            <a:r>
              <a:rPr lang="en-US" sz="9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Hartono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FHCA / ISO 42001 Lead Auditor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0" y="17830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E75B6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4924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 Technical Owner
</a:t>
            </a:r>
            <a:pPr algn="ctr" indent="0" marL="0">
              <a:buNone/>
            </a:pPr>
            <a:r>
              <a:rPr lang="en-US" sz="9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Hartono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(NCAOS-Urielle EGS)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463040"/>
            <a:ext cx="-22860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1463040"/>
            <a:ext cx="0" cy="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463040"/>
            <a:ext cx="210312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1463040"/>
            <a:ext cx="0" cy="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2423160"/>
            <a:ext cx="0" cy="27432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2423160"/>
            <a:ext cx="0" cy="27432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69748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375623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Evidence Maintainer
</a:t>
            </a:r>
            <a:pPr algn="ctr" indent="0" marL="0">
              <a:buNone/>
            </a:pPr>
            <a:r>
              <a:rPr lang="en-US" sz="9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Hartono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S5-11 Register Owner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269748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375623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74920" y="27432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Reporting Lead
</a:t>
            </a:r>
            <a:pPr algn="ctr" indent="0" marL="0">
              <a:buNone/>
            </a:pPr>
            <a:r>
              <a:rPr lang="en-US" sz="9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 Hartono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S3-01 / S3-04 Owner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9319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71600" y="3931920"/>
            <a:ext cx="274320" cy="201168"/>
          </a:xfrm>
          <a:prstGeom prst="roundRect">
            <a:avLst>
              <a:gd name="adj" fmla="val 13636"/>
            </a:avLst>
          </a:prstGeom>
          <a:solidFill>
            <a:srgbClr val="1F3864"/>
          </a:solidFill>
          <a:ln/>
        </p:spPr>
      </p:sp>
      <p:sp>
        <p:nvSpPr>
          <p:cNvPr id="27" name="Text 25"/>
          <p:cNvSpPr/>
          <p:nvPr/>
        </p:nvSpPr>
        <p:spPr>
          <a:xfrm>
            <a:off x="1691640" y="39319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Management / AIMS Owner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23360" y="3931920"/>
            <a:ext cx="274320" cy="201168"/>
          </a:xfrm>
          <a:prstGeom prst="roundRect">
            <a:avLst>
              <a:gd name="adj" fmla="val 13636"/>
            </a:avLst>
          </a:prstGeom>
          <a:solidFill>
            <a:srgbClr val="2E75B6"/>
          </a:solidFill>
          <a:ln/>
        </p:spPr>
      </p:sp>
      <p:sp>
        <p:nvSpPr>
          <p:cNvPr id="29" name="Text 27"/>
          <p:cNvSpPr/>
          <p:nvPr/>
        </p:nvSpPr>
        <p:spPr>
          <a:xfrm>
            <a:off x="4343400" y="39319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AIMS Role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3931920"/>
            <a:ext cx="274320" cy="201168"/>
          </a:xfrm>
          <a:prstGeom prst="roundRect">
            <a:avLst>
              <a:gd name="adj" fmla="val 13636"/>
            </a:avLst>
          </a:prstGeom>
          <a:solidFill>
            <a:srgbClr val="375623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9319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/ Evidence Role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42519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Cross-reference: S5-10 (RACI Matrix)  |  S5-11 (Role Register)  |  S5-12 (Appointment Letters)  |  Dashed line = NDA-scoped bilateral relationship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475488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Urielle AI  |  S5-13  |  NCAOS-Urielle EGS  |  v1.0  |  June 2026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ORGANISATION CHART — [ YOUR ENGAGEMENT ]  [ERT-YYYY-NNN]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41148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42001 cl.5.3  |  Version [X.X]  |  [DD Month YYYY]  |  [Organisation Name]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926080" y="77724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E8EE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71800" y="8229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Top Management / AIMS Owner ]
</a:t>
            </a:r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[Full name — Title — Organisation]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E8EE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229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Bilateral / JV Partner ]
</a:t>
            </a:r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[Full name — Organisation]</a:t>
            </a: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[Relationship type]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124712"/>
            <a:ext cx="4572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0" y="1463040"/>
            <a:ext cx="0" cy="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7830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E8EE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AIMS Functional Role 1 ]
</a:t>
            </a:r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 — Title]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17830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E8EE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AIMS Functional Role 2 ]
</a:t>
            </a:r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 — Title]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463040"/>
            <a:ext cx="-22860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1463040"/>
            <a:ext cx="0" cy="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463040"/>
            <a:ext cx="210312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1463040"/>
            <a:ext cx="0" cy="32004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423160"/>
            <a:ext cx="0" cy="27432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2423160"/>
            <a:ext cx="0" cy="27432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269748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E8EE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AIMS Operational Role 1 ]
</a:t>
            </a:r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 — Title]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269748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E8EE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7432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AIMS Operational Role 2 ]
</a:t>
            </a:r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 — Title]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361188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E8EE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36576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Add more roles as required ]
</a:t>
            </a:r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[Duplicate and position additional boxes below each functional role]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389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INSTRUCTIONS: Replace all [ bracket ] fields. Add columns for additional reporting lines. Each box = one named individual (not a team). Cross-reference box labels with S5-11 (Role Register).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4320" y="475488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Organisation Name ]  |  S5-13  |  [AI System Name]  |  v[X.X]  |  [Date]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NOTES — S5-13 AIMS ORGANISATION CHART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2840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06424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42001 cl.5.3 Requirement  —  </a:t>
            </a:r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requires that AIMS roles, responsibilities, and authorities are assigned, documented, and communicated. This chart is the primary visual evidence of that structure.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801368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28406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5623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Individuals Only  —  </a:t>
            </a:r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box in the chart must contain a named individual — not a team name, not a department, not a title without a name. If a role is vacant, write 'VACANT' and the expected fill date.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551176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2840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06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Lines  —  </a:t>
            </a:r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lines = direct reporting. Dashed lines = bilateral, contractual, or advisory relationships. Every AIMS role must ultimately report to top management (directly or through a defined chain).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300984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28406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558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Cross-References  —  </a:t>
            </a:r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box should reference the corresponding S5-11 row (Role Register) and S5-12 appointment letter. Auditors will check consistency across S5-10, S5-11, S5-12, and this chart.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050792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2840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05656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Readiness  —  </a:t>
            </a:r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Slide 3 for each engagement. Update all fields. Print and sign if a wet-signature version is required by the engagement. Retain in the audit evidence file alongside S5-11.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Urielle AI  |  S5-13  |  Confidential  |  v1.0  |  June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S5-13 AIMS Organisation Chart Template</dc:title>
  <dc:subject>PptxGenJS Presentation</dc:subject>
  <dc:creator>Urielle AI</dc:creator>
  <cp:lastModifiedBy>Urielle AI</cp:lastModifiedBy>
  <cp:revision>1</cp:revision>
  <dcterms:created xsi:type="dcterms:W3CDTF">2026-06-26T16:48:53Z</dcterms:created>
  <dcterms:modified xsi:type="dcterms:W3CDTF">2026-06-26T16:48:53Z</dcterms:modified>
</cp:coreProperties>
</file>